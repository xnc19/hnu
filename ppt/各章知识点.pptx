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70" r:id="rId11"/>
    <p:sldId id="271" r:id="rId12"/>
    <p:sldId id="272" r:id="rId13"/>
    <p:sldId id="273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algn="l" defTabSz="914400" rtl="0" eaLnBrk="1" latinLnBrk="0" hangingPunct="1"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algn="l" defTabSz="914400" rtl="0" eaLnBrk="1" latinLnBrk="0" hangingPunct="1"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algn="l" defTabSz="914400" rtl="0" eaLnBrk="1" latinLnBrk="0" hangingPunct="1"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algn="l" defTabSz="914400" rtl="0" eaLnBrk="1" latinLnBrk="0" hangingPunct="1">
      <a:defRPr kumimoji="1" sz="1600" kern="1200">
        <a:solidFill>
          <a:srgbClr val="0000FF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3300"/>
    <a:srgbClr val="FF0000"/>
    <a:srgbClr val="FF7F00"/>
    <a:srgbClr val="33FF33"/>
    <a:srgbClr val="FF00FF"/>
    <a:srgbClr val="FFCC66"/>
    <a:srgbClr val="99CCFF"/>
    <a:srgbClr val="6B0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78" autoAdjust="0"/>
    <p:restoredTop sz="86376" autoAdjust="0"/>
  </p:normalViewPr>
  <p:slideViewPr>
    <p:cSldViewPr snapToGrid="0">
      <p:cViewPr varScale="1">
        <p:scale>
          <a:sx n="69" d="100"/>
          <a:sy n="69" d="100"/>
        </p:scale>
        <p:origin x="34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DE1D9A9-C27B-484F-8688-58B95339FA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EEF1E38-8EBA-4C49-92BB-77601C82EC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CE452199-2278-48E9-8416-9424036BB6E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89EB2089-DBB9-4FD3-8CE4-DDE4B8DC899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D413EE8-100B-4B6B-AD3E-EAD470DDA8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195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8E645E9-F554-46DE-9181-795A333B92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D24376A-000F-48EA-B1A7-05C8F63D58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266CA3F-55B1-49F0-8987-F5B805C4EE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12DDE82F-0078-4A81-863C-7BAF6AFD82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93D0BE8-8E5C-4F28-A80B-61B83E70A2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616D263-679F-49E1-B41A-882C8AA59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8F61EA8-12EC-44DF-8580-F66F1760E0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0986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7BEA76-1880-4A32-8239-FFD05FE4EC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DB6E7-73D2-4B02-9393-51BA8F56B073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84E7978-9931-43B7-AA34-E58AAE07A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C148E-22B6-473A-BA7C-707791911227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48178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FE27BD7-1520-47A0-A870-C09EA6C5A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E527A-865F-4340-B8AB-19A1679ECEC0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286E8F3-D1E4-483D-AC1E-12E7D97FCB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09A1D-923E-4FBB-9139-F4874979AEC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3527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5ED0410-417F-441B-A818-437210DC3D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112B8-ECB3-4611-803A-E144FE1F158D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02A1DBC-7D5F-4717-93D4-95191815C2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7A0D5-5128-416F-8CB3-53679213C19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65825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7B45D67-BDD5-40BC-8C15-6FA8AEBDE8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DDD3B-52BB-4263-9CA2-28982FDBBE7F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0A8BFB-CC0A-4AC0-BFBD-23F6CE4622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6C0FA-AE1C-4A0F-A9B1-0E16DB950F4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24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353F830-1227-4A9A-92E7-1942E023A4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25C3D-4912-4F74-BE4E-15508A700108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8E44BE4-33BE-45C2-AF90-2F15F85F0B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7722A-83F7-4E5F-BDCA-A1E9A53D3F6E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9054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11B2534-F39B-4B6D-B310-79A8836EEF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E48DB-73E5-4C84-84BB-AC6B26F358D1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38F1091-F4F3-411B-8353-6742E84DBD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EE28C-2E48-4DE5-85D7-977AB7525B6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89979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E478DAAF-3D21-4B86-84BF-EE9DCD3C1C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2DFE0-FAEA-4E48-9FD1-A5A4D3064695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F6698B4B-890F-445B-9A74-1D4D268B36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1C31A-DE0A-40D7-8A05-3DBC2578F38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80270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A99E576-007F-4BB1-8F96-8FF07E3C86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F876C-CD9A-4055-A52D-587188112A83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B7C391F-FBC3-44FC-9793-FA5A3CF532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0B471-E1E7-41E9-A8E5-6A998FF8E913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7174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2D5A56A-E81D-4221-9B3E-B9453E3B4A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6C08C-71A5-4464-8B7B-E65BBB8C5241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7EAD4F0-A1AE-41EC-BA4C-3589567BAD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E7FAE-AF0A-4A34-A5D6-CF9394EB436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42491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F9B76CE-38BC-40E9-8876-82C7AC7BA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AE5C0-6918-4A6A-9172-615BAAF0FC2B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9558C5E-97B8-40C2-8321-20B6E0B556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30C16-2AA1-4445-B17B-1145A7E2734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2441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00C43CC-C841-4064-93D7-CBE00C70F0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F6216-6E51-496A-85D5-0559601C1550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E8EC73F-F0FB-4904-BA32-AE94268DE4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B0A84-AD45-4E69-8620-C9DE352E123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9072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318DA4F0-44AE-4C64-9C2A-392A495D00CB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16">
            <a:extLst>
              <a:ext uri="{FF2B5EF4-FFF2-40B4-BE49-F238E27FC236}">
                <a16:creationId xmlns:a16="http://schemas.microsoft.com/office/drawing/2014/main" id="{802919E7-1E89-49FE-9669-B34FB0F28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48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31E141D2-701B-4676-98C4-449440F4FD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>
                <a:solidFill>
                  <a:srgbClr val="FF0000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CDC9BB09-56A3-400A-B39D-8964F8C14BEF}" type="datetime1">
              <a:rPr lang="zh-CN" altLang="en-US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7398F5A2-E727-4059-8C46-4CF96469AF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B5AB25F-9913-4368-BF5D-801E64801218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74941-B512-4242-922B-E0BC738541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各章知识点</a:t>
            </a:r>
          </a:p>
        </p:txBody>
      </p:sp>
    </p:spTree>
    <p:extLst>
      <p:ext uri="{BB962C8B-B14F-4D97-AF65-F5344CB8AC3E}">
        <p14:creationId xmlns:p14="http://schemas.microsoft.com/office/powerpoint/2010/main" val="253809489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0C441-ABF6-49DD-9AC3-55CF5056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62" y="458832"/>
            <a:ext cx="7886700" cy="994172"/>
          </a:xfrm>
        </p:spPr>
        <p:txBody>
          <a:bodyPr/>
          <a:lstStyle/>
          <a:p>
            <a:pPr algn="l"/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电路部分（第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35A28-C4E2-40B9-8ADE-6408C48EB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245" y="1592817"/>
            <a:ext cx="7886700" cy="3263504"/>
          </a:xfrm>
        </p:spPr>
        <p:txBody>
          <a:bodyPr>
            <a:noAutofit/>
          </a:bodyPr>
          <a:lstStyle/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kern="1200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关联参考方向</a:t>
            </a:r>
            <a:r>
              <a:rPr kumimoji="0" lang="zh-CN" altLang="en-US" kern="120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、功率</a:t>
            </a:r>
            <a:endParaRPr kumimoji="0" lang="en-US" altLang="zh-CN" kern="1200" dirty="0"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kern="120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节点分析法</a:t>
            </a:r>
            <a:r>
              <a:rPr kumimoji="0" lang="zh-CN" altLang="en-US" kern="1200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zh-CN" altLang="en-US" kern="120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浮动电压源）</a:t>
            </a:r>
            <a:endParaRPr kumimoji="0" lang="en-US" altLang="zh-CN" kern="1200" dirty="0"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kern="120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叠加定理</a:t>
            </a:r>
            <a:endParaRPr kumimoji="0" lang="en-US" altLang="zh-CN" kern="1200" dirty="0"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kern="1200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戴维南等效</a:t>
            </a:r>
          </a:p>
        </p:txBody>
      </p:sp>
    </p:spTree>
    <p:extLst>
      <p:ext uri="{BB962C8B-B14F-4D97-AF65-F5344CB8AC3E}">
        <p14:creationId xmlns:p14="http://schemas.microsoft.com/office/powerpoint/2010/main" val="37055557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461E7-D7DA-4B59-AAFB-B5F05082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33" y="400567"/>
            <a:ext cx="7886700" cy="745911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F5820B-F293-4968-AB77-B9B8B16B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56" y="1593329"/>
            <a:ext cx="8346723" cy="3995531"/>
          </a:xfrm>
        </p:spPr>
        <p:txBody>
          <a:bodyPr>
            <a:noAutofit/>
          </a:bodyPr>
          <a:lstStyle/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数字系统中的电压信号</a:t>
            </a:r>
          </a:p>
          <a:p>
            <a:pPr lvl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新魏" panose="02010800040101010101" pitchFamily="2" charset="-122"/>
              </a:rPr>
              <a:t>正</a:t>
            </a:r>
            <a:r>
              <a:rPr lang="zh-CN" altLang="en-US" sz="2400" dirty="0">
                <a:ea typeface="华文新魏" panose="02010800040101010101" pitchFamily="2" charset="-122"/>
              </a:rPr>
              <a:t>逻辑信号、负逻辑信号</a:t>
            </a:r>
            <a:endParaRPr lang="en-US" altLang="zh-CN" sz="2400">
              <a:ea typeface="华文新魏" panose="02010800040101010101" pitchFamily="2" charset="-122"/>
            </a:endParaRPr>
          </a:p>
          <a:p>
            <a:pPr lvl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新魏" panose="02010800040101010101" pitchFamily="2" charset="-122"/>
              </a:rPr>
              <a:t>噪声容限</a:t>
            </a:r>
            <a:r>
              <a:rPr lang="en-US" altLang="zh-CN" sz="2400">
                <a:ea typeface="华文新魏" panose="02010800040101010101" pitchFamily="2" charset="-122"/>
              </a:rPr>
              <a:t> </a:t>
            </a:r>
          </a:p>
          <a:p>
            <a:pPr marL="196454" lvl="1" indent="-196454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编码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类型</a:t>
            </a:r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b="0">
                <a:ea typeface="华文新魏" panose="02010800040101010101" pitchFamily="2" charset="-122"/>
              </a:rPr>
              <a:t> </a:t>
            </a:r>
            <a:r>
              <a:rPr lang="zh-CN" altLang="zh-CN" sz="2400">
                <a:ea typeface="华文新魏" panose="02010800040101010101" pitchFamily="2" charset="-122"/>
              </a:rPr>
              <a:t>十进制数</a:t>
            </a:r>
            <a:r>
              <a:rPr lang="zh-CN" altLang="en-US" sz="2400" dirty="0">
                <a:ea typeface="华文新魏" panose="02010800040101010101" pitchFamily="2" charset="-122"/>
              </a:rPr>
              <a:t>值</a:t>
            </a:r>
            <a:r>
              <a:rPr lang="zh-CN" altLang="zh-CN" sz="2400">
                <a:ea typeface="华文新魏" panose="02010800040101010101" pitchFamily="2" charset="-122"/>
              </a:rPr>
              <a:t>编码</a:t>
            </a:r>
            <a:r>
              <a:rPr lang="zh-CN" altLang="en-US" sz="2400">
                <a:ea typeface="华文新魏" panose="02010800040101010101" pitchFamily="2" charset="-122"/>
              </a:rPr>
              <a:t>（</a:t>
            </a:r>
            <a:r>
              <a:rPr lang="en-US" altLang="zh-CN" sz="2400">
                <a:ea typeface="华文新魏" panose="02010800040101010101" pitchFamily="2" charset="-122"/>
              </a:rPr>
              <a:t>8421BCD</a:t>
            </a:r>
            <a:r>
              <a:rPr lang="zh-CN" altLang="en-US" sz="2400">
                <a:ea typeface="华文新魏" panose="02010800040101010101" pitchFamily="2" charset="-122"/>
              </a:rPr>
              <a:t>、余</a:t>
            </a:r>
            <a:r>
              <a:rPr lang="en-US" altLang="zh-CN" sz="2400">
                <a:ea typeface="华文新魏" panose="02010800040101010101" pitchFamily="2" charset="-122"/>
              </a:rPr>
              <a:t>3</a:t>
            </a:r>
            <a:r>
              <a:rPr lang="zh-CN" altLang="en-US" sz="2400">
                <a:ea typeface="华文新魏" panose="02010800040101010101" pitchFamily="2" charset="-122"/>
              </a:rPr>
              <a:t>码、</a:t>
            </a:r>
            <a:r>
              <a:rPr lang="en-US" altLang="zh-CN" sz="2400">
                <a:ea typeface="华文新魏" panose="02010800040101010101" pitchFamily="2" charset="-122"/>
              </a:rPr>
              <a:t>2421</a:t>
            </a:r>
            <a:r>
              <a:rPr lang="zh-CN" altLang="en-US" sz="2400">
                <a:ea typeface="华文新魏" panose="02010800040101010101" pitchFamily="2" charset="-122"/>
              </a:rPr>
              <a:t>码等）</a:t>
            </a:r>
            <a:endParaRPr lang="en-US" altLang="zh-CN" sz="2400">
              <a:ea typeface="华文新魏" panose="02010800040101010101" pitchFamily="2" charset="-122"/>
            </a:endParaRPr>
          </a:p>
          <a:p>
            <a:pPr lvl="1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>
                <a:ea typeface="华文新魏" panose="02010800040101010101" pitchFamily="2" charset="-122"/>
              </a:rPr>
              <a:t> </a:t>
            </a:r>
            <a:r>
              <a:rPr lang="zh-CN" altLang="zh-CN" sz="2400">
                <a:ea typeface="华文新魏" panose="02010800040101010101" pitchFamily="2" charset="-122"/>
              </a:rPr>
              <a:t>字符编码</a:t>
            </a:r>
            <a:r>
              <a:rPr lang="zh-CN" altLang="en-US" sz="2400">
                <a:ea typeface="华文新魏" panose="02010800040101010101" pitchFamily="2" charset="-122"/>
              </a:rPr>
              <a:t>（</a:t>
            </a:r>
            <a:r>
              <a:rPr lang="en-US" altLang="zh-CN" sz="2400">
                <a:ea typeface="华文新魏" panose="02010800040101010101" pitchFamily="2" charset="-122"/>
              </a:rPr>
              <a:t>ASCII</a:t>
            </a:r>
            <a:r>
              <a:rPr lang="zh-CN" altLang="en-US" sz="2400">
                <a:ea typeface="华文新魏" panose="02010800040101010101" pitchFamily="2" charset="-122"/>
              </a:rPr>
              <a:t>码）</a:t>
            </a:r>
            <a:endParaRPr lang="en-US" altLang="zh-CN" sz="2400" dirty="0"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47629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D379C-E60F-4A08-9309-890C7513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91" y="400957"/>
            <a:ext cx="7886700" cy="994172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第二章（第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ED12D-1B09-494C-A0D4-522A990C7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359" y="5057670"/>
            <a:ext cx="7886700" cy="1313345"/>
          </a:xfrm>
        </p:spPr>
        <p:txBody>
          <a:bodyPr vert="horz" lIns="68580" tIns="34290" rIns="68580" bIns="34290" rtlCol="0">
            <a:normAutofit/>
          </a:bodyPr>
          <a:lstStyle/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冒险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57250" lvl="2" indent="-4572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600" kern="1200">
                <a:ea typeface="华文新魏" panose="02010800040101010101" pitchFamily="2" charset="-122"/>
                <a:cs typeface="+mn-cs"/>
              </a:rPr>
              <a:t>定义</a:t>
            </a:r>
            <a:r>
              <a:rPr lang="zh-CN" altLang="en-US" sz="2600" kern="1200" dirty="0">
                <a:ea typeface="华文新魏" panose="02010800040101010101" pitchFamily="2" charset="-122"/>
                <a:cs typeface="+mn-cs"/>
              </a:rPr>
              <a:t>，产生原因，判断，消除</a:t>
            </a:r>
          </a:p>
        </p:txBody>
      </p:sp>
      <p:sp>
        <p:nvSpPr>
          <p:cNvPr id="4" name="矩形 3"/>
          <p:cNvSpPr/>
          <p:nvPr/>
        </p:nvSpPr>
        <p:spPr>
          <a:xfrm>
            <a:off x="823057" y="1395129"/>
            <a:ext cx="4572000" cy="3616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基本逻辑运算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CMOS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门电路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标准型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chemeClr val="tx1"/>
                </a:solidFill>
                <a:ea typeface="华文新魏" panose="0201080004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+mn-lt"/>
              </a:rPr>
              <a:t>最小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项与最大项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742950" lvl="1" indent="-28575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tx1"/>
                </a:solidFill>
                <a:latin typeface="+mn-lt"/>
              </a:rPr>
              <a:t> 标准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积之和、标准和之积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卡诺图化简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chemeClr val="tx1"/>
                </a:solidFill>
                <a:latin typeface="+mn-lt"/>
              </a:rPr>
              <a:t> 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简与或式、最简或与式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65141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F9185-8BF3-4A29-8090-BB2CC6CF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10" y="403210"/>
            <a:ext cx="7886700" cy="994172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第三章（第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D631FC-587C-4450-9B8F-40AD483D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21" y="1430819"/>
            <a:ext cx="6374606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61938" indent="-261938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11200" indent="-254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使能、禁止、有效电平</a:t>
            </a:r>
            <a:endParaRPr kumimoji="0" lang="en-US" altLang="zh-CN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</a:t>
            </a:r>
            <a:endParaRPr kumimoji="0" lang="en-US" altLang="zh-CN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11981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层次化结构与非层次化结构</a:t>
            </a:r>
            <a:endParaRPr kumimoji="0" lang="en-US" altLang="zh-CN" sz="2400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11981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ea typeface="华文新魏" panose="02010800040101010101" pitchFamily="2" charset="-122"/>
              </a:rPr>
              <a:t>用译码器实现组合电路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38E5BF0-701A-4F5B-94B7-CD69E10CA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21" y="3354423"/>
            <a:ext cx="5893035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11200" indent="-2540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>
                <a:ea typeface="华文新魏" panose="02010800040101010101" pitchFamily="2" charset="-122"/>
              </a:rPr>
              <a:t>编码</a:t>
            </a:r>
            <a:endParaRPr lang="en-US" altLang="zh-CN" b="0" dirty="0">
              <a:ea typeface="华文新魏" panose="02010800040101010101" pitchFamily="2" charset="-122"/>
            </a:endParaRPr>
          </a:p>
          <a:p>
            <a:pPr marL="80010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ea typeface="华文新魏" panose="02010800040101010101" pitchFamily="2" charset="-122"/>
              </a:rPr>
              <a:t>优先编码器</a:t>
            </a:r>
            <a:endParaRPr lang="en-US" altLang="zh-CN" sz="2400" b="0" dirty="0">
              <a:ea typeface="华文新魏" panose="02010800040101010101" pitchFamily="2" charset="-122"/>
            </a:endParaRP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ea typeface="华文新魏" panose="02010800040101010101" pitchFamily="2" charset="-122"/>
              </a:rPr>
              <a:t>多路复用</a:t>
            </a:r>
            <a:endParaRPr lang="en-US" altLang="zh-CN" b="0" dirty="0">
              <a:ea typeface="华文新魏" panose="02010800040101010101" pitchFamily="2" charset="-122"/>
            </a:endParaRPr>
          </a:p>
          <a:p>
            <a:pPr marL="80010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电路结构</a:t>
            </a:r>
            <a:endParaRPr kumimoji="0" lang="en-US" altLang="zh-CN" sz="2400" b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ea typeface="华文新魏" panose="02010800040101010101" pitchFamily="2" charset="-122"/>
              </a:rPr>
              <a:t>用多路开关</a:t>
            </a:r>
            <a:r>
              <a:rPr kumimoji="0" lang="zh-CN" altLang="en-US" sz="2400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</a:t>
            </a:r>
            <a:r>
              <a:rPr lang="zh-CN" altLang="en-US" sz="2400" b="0" dirty="0">
                <a:ea typeface="华文新魏" panose="02010800040101010101" pitchFamily="2" charset="-122"/>
              </a:rPr>
              <a:t>组合电路</a:t>
            </a:r>
            <a:endParaRPr lang="en-US" altLang="zh-CN" sz="2400" b="0" dirty="0">
              <a:ea typeface="华文新魏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3121" y="5724303"/>
            <a:ext cx="7061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小规模</a:t>
            </a:r>
            <a:r>
              <a:rPr lang="zh-CN" altLang="en-US" sz="2800">
                <a:solidFill>
                  <a:schemeClr val="tx1"/>
                </a:solidFill>
              </a:rPr>
              <a:t>系统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构建大规模系统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19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5A27D67-9177-4687-8B68-E416F43D25BC}"/>
              </a:ext>
            </a:extLst>
          </p:cNvPr>
          <p:cNvSpPr txBox="1"/>
          <p:nvPr/>
        </p:nvSpPr>
        <p:spPr>
          <a:xfrm>
            <a:off x="526277" y="1562994"/>
            <a:ext cx="756950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6454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迭代电路：简化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宽数据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电路设计问题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6454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二进制加法器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28663" lvl="1" indent="-4572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半加器与全加器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28663" lvl="1" indent="-4572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行波进位加法器：简单，速度低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补码表示与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补码运算（加、减、溢出判断）</a:t>
            </a:r>
            <a:endParaRPr lang="en-US" altLang="zh-CN" sz="2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二进制加减法器（用补码，化减为加）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5D69E68-BC57-4848-B50F-45DF581E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277" y="425810"/>
            <a:ext cx="7886700" cy="994172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第三章（第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6277" y="4625371"/>
            <a:ext cx="4572000" cy="153888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96454" lvl="1" indent="-196454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层次化设计方法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25091" lvl="1" indent="-4572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自顶向下与自底向上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25091" lvl="1" indent="-4572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两者结合</a:t>
            </a:r>
            <a:endParaRPr lang="en-US" altLang="zh-CN" sz="2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43826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5">
            <a:extLst>
              <a:ext uri="{FF2B5EF4-FFF2-40B4-BE49-F238E27FC236}">
                <a16:creationId xmlns:a16="http://schemas.microsoft.com/office/drawing/2014/main" id="{7E34188D-1242-490F-A643-59D3C4C9D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00" y="1397680"/>
            <a:ext cx="8247009" cy="4980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2255" indent="-26225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11200" indent="-254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dirty="0">
                <a:ea typeface="华文新魏" panose="02010800040101010101" pitchFamily="2" charset="-122"/>
              </a:rPr>
              <a:t>时序电路及其类型</a:t>
            </a:r>
            <a:endParaRPr kumimoji="0" lang="en-US" altLang="zh-CN" sz="2800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>
                <a:ea typeface="华文新魏" panose="02010800040101010101" pitchFamily="2" charset="-122"/>
              </a:rPr>
              <a:t>同步与异步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en-US" altLang="zh-CN" dirty="0">
                <a:ea typeface="华文新魏" panose="02010800040101010101" pitchFamily="2" charset="-122"/>
              </a:rPr>
              <a:t>Moore</a:t>
            </a:r>
            <a:r>
              <a:rPr kumimoji="0" lang="zh-CN" altLang="en-US" dirty="0">
                <a:ea typeface="华文新魏" panose="02010800040101010101" pitchFamily="2" charset="-122"/>
              </a:rPr>
              <a:t>与</a:t>
            </a:r>
            <a:r>
              <a:rPr kumimoji="0" lang="en-US" altLang="zh-CN" dirty="0">
                <a:ea typeface="华文新魏" panose="02010800040101010101" pitchFamily="2" charset="-122"/>
              </a:rPr>
              <a:t>Mealy</a:t>
            </a:r>
            <a:r>
              <a:rPr kumimoji="0" lang="zh-CN" altLang="en-US" dirty="0">
                <a:ea typeface="华文新魏" panose="02010800040101010101" pitchFamily="2" charset="-122"/>
              </a:rPr>
              <a:t>型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0" indent="-66437">
              <a:spcBef>
                <a:spcPts val="45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dirty="0">
                <a:ea typeface="华文新魏" panose="02010800040101010101" pitchFamily="2" charset="-122"/>
              </a:rPr>
              <a:t>记忆元件</a:t>
            </a:r>
            <a:endParaRPr kumimoji="0" lang="en-US" altLang="zh-CN" sz="2800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>
                <a:ea typeface="华文新魏" panose="02010800040101010101" pitchFamily="2" charset="-122"/>
              </a:rPr>
              <a:t>锁存器（透明的，可能翻转多次）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>
                <a:ea typeface="华文新魏" panose="02010800040101010101" pitchFamily="2" charset="-122"/>
              </a:rPr>
              <a:t>触发器（不透明，只翻转</a:t>
            </a:r>
            <a:r>
              <a:rPr kumimoji="0" lang="en-US" altLang="zh-CN" dirty="0">
                <a:ea typeface="华文新魏" panose="02010800040101010101" pitchFamily="2" charset="-122"/>
              </a:rPr>
              <a:t>1</a:t>
            </a:r>
            <a:r>
              <a:rPr kumimoji="0" lang="zh-CN" altLang="en-US" dirty="0">
                <a:ea typeface="华文新魏" panose="02010800040101010101" pitchFamily="2" charset="-122"/>
              </a:rPr>
              <a:t>次）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196691" indent="-196691">
              <a:spcBef>
                <a:spcPts val="45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a typeface="华文新魏" panose="02010800040101010101" pitchFamily="2" charset="-122"/>
              </a:rPr>
              <a:t>时序电路分析</a:t>
            </a:r>
            <a:endParaRPr lang="en-US" altLang="zh-CN" sz="2800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>
                <a:ea typeface="华文新魏" panose="02010800040101010101" pitchFamily="2" charset="-122"/>
              </a:rPr>
              <a:t>输出方程</a:t>
            </a:r>
            <a:r>
              <a:rPr kumimoji="0" lang="zh-CN" altLang="en-US" dirty="0">
                <a:ea typeface="华文新魏" panose="02010800040101010101" pitchFamily="2" charset="-122"/>
              </a:rPr>
              <a:t>与激励方程（由激励方程得到下一状态方程）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>
                <a:ea typeface="华文新魏" panose="02010800040101010101" pitchFamily="2" charset="-122"/>
              </a:rPr>
              <a:t>状态</a:t>
            </a:r>
            <a:r>
              <a:rPr kumimoji="0" lang="zh-CN" altLang="en-US" dirty="0">
                <a:ea typeface="华文新魏" panose="02010800040101010101" pitchFamily="2" charset="-122"/>
              </a:rPr>
              <a:t>表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>
                <a:ea typeface="华文新魏" panose="02010800040101010101" pitchFamily="2" charset="-122"/>
              </a:rPr>
              <a:t>状态图</a:t>
            </a:r>
            <a:endParaRPr kumimoji="0" lang="en-US" altLang="zh-CN" dirty="0">
              <a:ea typeface="华文新魏" panose="02010800040101010101" pitchFamily="2" charset="-122"/>
            </a:endParaRPr>
          </a:p>
          <a:p>
            <a:pPr marL="613172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>
                <a:ea typeface="华文新魏" panose="02010800040101010101" pitchFamily="2" charset="-122"/>
              </a:rPr>
              <a:t>功能</a:t>
            </a:r>
            <a:r>
              <a:rPr kumimoji="0" lang="zh-CN" altLang="en-US" dirty="0">
                <a:ea typeface="华文新魏" panose="02010800040101010101" pitchFamily="2" charset="-122"/>
              </a:rPr>
              <a:t>描述</a:t>
            </a:r>
            <a:endParaRPr kumimoji="0" lang="en-US" altLang="zh-CN" dirty="0">
              <a:ea typeface="华文新魏" panose="0201080004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BDB2835-0762-4957-A7BB-4D90ADDC867F}"/>
              </a:ext>
            </a:extLst>
          </p:cNvPr>
          <p:cNvSpPr txBox="1">
            <a:spLocks/>
          </p:cNvSpPr>
          <p:nvPr/>
        </p:nvSpPr>
        <p:spPr>
          <a:xfrm>
            <a:off x="628650" y="370055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69497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681326" y="1155878"/>
            <a:ext cx="797201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时序电路设计（利用状态图）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614363" lvl="1" indent="-342900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功能说明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614363" lvl="1" indent="-342900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形式化（作状态图或状态表）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614363" lvl="1" indent="-342900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状态分配（状态赋值）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614363" lvl="1" indent="-342900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未用状态的处理（单热点码不考虑未用状态的处理）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614363" lvl="1" indent="-342900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获取触发器输入方程和电路输出方程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F16DD4-42B4-4836-830C-BA8473850062}"/>
              </a:ext>
            </a:extLst>
          </p:cNvPr>
          <p:cNvSpPr txBox="1"/>
          <p:nvPr/>
        </p:nvSpPr>
        <p:spPr>
          <a:xfrm>
            <a:off x="681327" y="3862001"/>
            <a:ext cx="7972018" cy="269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ea typeface="华文新魏" panose="02010800040101010101" pitchFamily="2" charset="-122"/>
              </a:rPr>
              <a:t>利用状态机图设计时序电路</a:t>
            </a:r>
            <a:endParaRPr lang="en-US" altLang="zh-CN" sz="2800" dirty="0">
              <a:solidFill>
                <a:schemeClr val="tx1"/>
              </a:solidFill>
              <a:ea typeface="华文新魏" panose="02010800040101010101" pitchFamily="2" charset="-122"/>
            </a:endParaRPr>
          </a:p>
          <a:p>
            <a:pPr marL="610791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状态机图</a:t>
            </a:r>
            <a:endParaRPr lang="en-US" altLang="zh-CN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67891" lvl="1">
              <a:spcBef>
                <a:spcPts val="450"/>
              </a:spcBef>
              <a:buClr>
                <a:srgbClr val="0000FF"/>
              </a:buClr>
            </a:pPr>
            <a:r>
              <a:rPr lang="en-US" altLang="zh-CN" sz="2400">
                <a:solidFill>
                  <a:schemeClr val="tx1"/>
                </a:solidFill>
                <a:latin typeface="华文新魏" panose="02010800040101010101" pitchFamily="2" charset="-122"/>
              </a:rPr>
              <a:t>     </a:t>
            </a:r>
            <a:r>
              <a:rPr lang="zh-CN" altLang="en-US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</a:t>
            </a: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约束：保证正确性</a:t>
            </a:r>
            <a:endParaRPr lang="en-US" altLang="zh-CN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10791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基于表达式的状态表</a:t>
            </a:r>
            <a:endParaRPr lang="en-US" altLang="zh-CN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267891" lvl="1">
              <a:spcBef>
                <a:spcPts val="450"/>
              </a:spcBef>
              <a:buClr>
                <a:srgbClr val="0000FF"/>
              </a:buClr>
            </a:pPr>
            <a:r>
              <a:rPr lang="zh-CN" altLang="en-US" sz="2400">
                <a:solidFill>
                  <a:schemeClr val="tx1"/>
                </a:solidFill>
                <a:latin typeface="华文新魏" panose="02010800040101010101" pitchFamily="2" charset="-122"/>
              </a:rPr>
              <a:t>     </a:t>
            </a:r>
            <a:r>
              <a:rPr lang="zh-CN" altLang="en-US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</a:t>
            </a: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热点码外的赋值方案要考虑未用状态的处理</a:t>
            </a:r>
            <a:endParaRPr lang="en-US" altLang="zh-CN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10791" lvl="1" indent="-342900">
              <a:spcBef>
                <a:spcPts val="45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获取方程  </a:t>
            </a:r>
            <a:endParaRPr lang="en-US" altLang="zh-CN" sz="2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293C6844-5BE3-4F86-A76F-9C1C4B16024C}"/>
              </a:ext>
            </a:extLst>
          </p:cNvPr>
          <p:cNvSpPr txBox="1">
            <a:spLocks/>
          </p:cNvSpPr>
          <p:nvPr/>
        </p:nvSpPr>
        <p:spPr>
          <a:xfrm>
            <a:off x="518916" y="327821"/>
            <a:ext cx="7886700" cy="76881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14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15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68489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>
            <a:extLst>
              <a:ext uri="{FF2B5EF4-FFF2-40B4-BE49-F238E27FC236}">
                <a16:creationId xmlns:a16="http://schemas.microsoft.com/office/drawing/2014/main" id="{BEE2A846-6908-45E3-AC57-13A572574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23" y="1620702"/>
            <a:ext cx="817435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j-lt"/>
                <a:ea typeface="华文新魏" panose="02010800040101010101" pitchFamily="2" charset="-122"/>
              </a:rPr>
              <a:t>触发器的输入信号不能在建立时间或保持时间范围内发生改变；</a:t>
            </a:r>
            <a:endParaRPr lang="en-US" altLang="zh-CN" dirty="0">
              <a:latin typeface="+mj-lt"/>
              <a:ea typeface="华文新魏" panose="02010800040101010101" pitchFamily="2" charset="-122"/>
            </a:endParaRP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j-lt"/>
                <a:ea typeface="华文新魏" panose="02010800040101010101" pitchFamily="2" charset="-122"/>
              </a:rPr>
              <a:t>时钟周期</a:t>
            </a:r>
            <a:r>
              <a:rPr lang="en-US" altLang="zh-CN" i="1" dirty="0" err="1">
                <a:solidFill>
                  <a:srgbClr val="000000"/>
                </a:solidFill>
                <a:ea typeface="华文新魏" panose="02010800040101010101" pitchFamily="2" charset="-122"/>
              </a:rPr>
              <a:t>t</a:t>
            </a:r>
            <a:r>
              <a:rPr lang="en-US" altLang="zh-CN" i="1" baseline="-25000" dirty="0" err="1">
                <a:solidFill>
                  <a:srgbClr val="000000"/>
                </a:solidFill>
                <a:ea typeface="华文新魏" panose="02010800040101010101" pitchFamily="2" charset="-122"/>
              </a:rPr>
              <a:t>p</a:t>
            </a:r>
            <a:r>
              <a:rPr lang="en-US" altLang="zh-CN" i="1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</a:rPr>
              <a:t>t</a:t>
            </a:r>
            <a:r>
              <a:rPr lang="en-US" altLang="zh-CN" i="1" baseline="-25000" dirty="0" err="1">
                <a:solidFill>
                  <a:srgbClr val="000000"/>
                </a:solidFill>
              </a:rPr>
              <a:t>pd</a:t>
            </a:r>
            <a:r>
              <a:rPr lang="en-US" altLang="zh-CN" baseline="-25000" dirty="0" err="1">
                <a:solidFill>
                  <a:srgbClr val="000000"/>
                </a:solidFill>
              </a:rPr>
              <a:t>,</a:t>
            </a:r>
            <a:r>
              <a:rPr lang="en-US" altLang="zh-CN" i="1" baseline="-25000" dirty="0" err="1">
                <a:solidFill>
                  <a:srgbClr val="000000"/>
                </a:solidFill>
              </a:rPr>
              <a:t>FF</a:t>
            </a:r>
            <a:r>
              <a:rPr lang="en-US" altLang="zh-CN" i="1" baseline="-25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华文新魏" panose="02010800040101010101" pitchFamily="2" charset="-122"/>
              </a:rPr>
              <a:t>t</a:t>
            </a:r>
            <a:r>
              <a:rPr lang="en-US" altLang="zh-CN" i="1" baseline="-25000" dirty="0" err="1">
                <a:solidFill>
                  <a:srgbClr val="000000"/>
                </a:solidFill>
                <a:ea typeface="华文新魏" panose="02010800040101010101" pitchFamily="2" charset="-122"/>
              </a:rPr>
              <a:t>pd,COMB</a:t>
            </a:r>
            <a:r>
              <a:rPr lang="en-US" altLang="zh-CN" i="1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华文新魏" panose="02010800040101010101" pitchFamily="2" charset="-122"/>
              </a:rPr>
              <a:t>t</a:t>
            </a:r>
            <a:r>
              <a:rPr lang="en-US" altLang="zh-CN" i="1" baseline="-25000" dirty="0" err="1">
                <a:solidFill>
                  <a:srgbClr val="000000"/>
                </a:solidFill>
                <a:ea typeface="华文新魏" panose="02010800040101010101" pitchFamily="2" charset="-122"/>
              </a:rPr>
              <a:t>s</a:t>
            </a:r>
            <a:r>
              <a:rPr lang="en-US" altLang="zh-CN" i="1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华文新魏" panose="02010800040101010101" pitchFamily="2" charset="-122"/>
              </a:rPr>
              <a:t>t</a:t>
            </a:r>
            <a:r>
              <a:rPr lang="en-US" altLang="zh-CN" i="1" baseline="-25000" dirty="0" err="1">
                <a:solidFill>
                  <a:srgbClr val="000000"/>
                </a:solidFill>
                <a:ea typeface="华文新魏" panose="02010800040101010101" pitchFamily="2" charset="-122"/>
              </a:rPr>
              <a:t>slack</a:t>
            </a:r>
            <a:r>
              <a:rPr lang="en-US" altLang="zh-CN" i="1" baseline="-25000" dirty="0">
                <a:solidFill>
                  <a:srgbClr val="000000"/>
                </a:solidFill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+mj-lt"/>
                <a:ea typeface="华文新魏" panose="02010800040101010101" pitchFamily="2" charset="-122"/>
              </a:rPr>
              <a:t>；</a:t>
            </a:r>
            <a:endParaRPr lang="en-US" altLang="zh-CN" dirty="0">
              <a:latin typeface="+mj-lt"/>
              <a:ea typeface="华文新魏" panose="02010800040101010101" pitchFamily="2" charset="-122"/>
            </a:endParaRP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j-lt"/>
                <a:ea typeface="华文新魏" panose="02010800040101010101" pitchFamily="2" charset="-122"/>
              </a:rPr>
              <a:t>异步输入引起的异常及其解决</a:t>
            </a:r>
            <a:endParaRPr lang="en-US" altLang="zh-CN" dirty="0">
              <a:latin typeface="+mj-lt"/>
              <a:ea typeface="华文新魏" panose="02010800040101010101" pitchFamily="2" charset="-122"/>
            </a:endParaRPr>
          </a:p>
          <a:p>
            <a:pPr marL="972000" lvl="2" indent="-45720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ea typeface="华文新魏" panose="02010800040101010101" pitchFamily="2" charset="-122"/>
              </a:rPr>
              <a:t>输出方程</a:t>
            </a:r>
            <a:r>
              <a:rPr lang="zh-CN" altLang="en-US" sz="2400" dirty="0">
                <a:ea typeface="华文新魏" panose="02010800040101010101" pitchFamily="2" charset="-122"/>
              </a:rPr>
              <a:t>与激励方程</a:t>
            </a:r>
            <a:r>
              <a:rPr lang="zh-CN" altLang="en-US" sz="2200" dirty="0">
                <a:ea typeface="华文新魏" panose="02010800040101010101" pitchFamily="2" charset="-122"/>
              </a:rPr>
              <a:t>（由激励方程得到下一状态方程）</a:t>
            </a:r>
            <a:endParaRPr lang="en-US" altLang="zh-CN" sz="2200" dirty="0">
              <a:ea typeface="华文新魏" panose="02010800040101010101" pitchFamily="2" charset="-122"/>
            </a:endParaRPr>
          </a:p>
          <a:p>
            <a:pPr marL="879872" lvl="2" indent="-34290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ea typeface="华文新魏" panose="02010800040101010101" pitchFamily="2" charset="-122"/>
              </a:rPr>
              <a:t>正常</a:t>
            </a:r>
            <a:r>
              <a:rPr lang="zh-CN" altLang="en-US" sz="2400" dirty="0">
                <a:ea typeface="华文新魏" panose="02010800040101010101" pitchFamily="2" charset="-122"/>
              </a:rPr>
              <a:t>的状态表（状态图）</a:t>
            </a:r>
            <a:endParaRPr lang="en-US" altLang="zh-CN" sz="2400" dirty="0">
              <a:ea typeface="华文新魏" panose="02010800040101010101" pitchFamily="2" charset="-122"/>
            </a:endParaRPr>
          </a:p>
          <a:p>
            <a:pPr marL="879872" lvl="2" indent="-34290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latin typeface="+mj-lt"/>
                <a:ea typeface="华文新魏" panose="02010800040101010101" pitchFamily="2" charset="-122"/>
              </a:rPr>
              <a:t>异常</a:t>
            </a:r>
            <a:r>
              <a:rPr lang="zh-CN" altLang="en-US" sz="2400" dirty="0">
                <a:latin typeface="+mj-lt"/>
                <a:ea typeface="华文新魏" panose="02010800040101010101" pitchFamily="2" charset="-122"/>
              </a:rPr>
              <a:t>的状态分析（状态图）</a:t>
            </a:r>
            <a:r>
              <a:rPr lang="en-US" altLang="zh-CN" sz="2400" dirty="0">
                <a:latin typeface="+mj-lt"/>
                <a:ea typeface="华文新魏" panose="02010800040101010101" pitchFamily="2" charset="-122"/>
              </a:rPr>
              <a:t>+ </a:t>
            </a:r>
            <a:r>
              <a:rPr lang="zh-CN" altLang="en-US" sz="2400" dirty="0">
                <a:latin typeface="+mj-lt"/>
                <a:ea typeface="华文新魏" panose="02010800040101010101" pitchFamily="2" charset="-122"/>
              </a:rPr>
              <a:t>触发器时序违约的</a:t>
            </a:r>
            <a:r>
              <a:rPr lang="zh-CN" altLang="en-US" sz="2400">
                <a:latin typeface="+mj-lt"/>
                <a:ea typeface="华文新魏" panose="02010800040101010101" pitchFamily="2" charset="-122"/>
              </a:rPr>
              <a:t>可能异常</a:t>
            </a:r>
            <a:r>
              <a:rPr lang="en-US" altLang="zh-CN" sz="2400">
                <a:latin typeface="+mj-lt"/>
                <a:ea typeface="华文新魏" panose="02010800040101010101" pitchFamily="2" charset="-122"/>
              </a:rPr>
              <a:t>+</a:t>
            </a:r>
            <a:r>
              <a:rPr lang="zh-CN" altLang="en-US" sz="2400">
                <a:latin typeface="+mj-lt"/>
                <a:ea typeface="华文新魏" panose="02010800040101010101" pitchFamily="2" charset="-122"/>
              </a:rPr>
              <a:t>解决办法</a:t>
            </a:r>
            <a:endParaRPr lang="en-US" altLang="zh-CN" sz="2400" dirty="0"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B45D627-E50B-4F02-8452-6AC7CDCF82A4}"/>
              </a:ext>
            </a:extLst>
          </p:cNvPr>
          <p:cNvSpPr txBox="1">
            <a:spLocks/>
          </p:cNvSpPr>
          <p:nvPr/>
        </p:nvSpPr>
        <p:spPr>
          <a:xfrm>
            <a:off x="628650" y="425809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21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3011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DF61ED36-441C-4F8A-84D9-65797AAD4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85" y="1266999"/>
            <a:ext cx="7357644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36195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712788" indent="1905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sz="2800" dirty="0">
                <a:solidFill>
                  <a:schemeClr val="tx1"/>
                </a:solidFill>
              </a:rPr>
              <a:t>寄存器加载方式</a:t>
            </a:r>
            <a:endParaRPr kumimoji="0" lang="en-US" altLang="zh-CN" sz="2800" dirty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buClr>
                <a:srgbClr val="0000FF"/>
              </a:buClr>
            </a:pPr>
            <a:r>
              <a:rPr kumimoji="0" lang="zh-CN" altLang="en-US" sz="2800" dirty="0">
                <a:solidFill>
                  <a:schemeClr val="tx1"/>
                </a:solidFill>
              </a:rPr>
              <a:t>  </a:t>
            </a:r>
            <a:r>
              <a:rPr kumimoji="0" lang="zh-CN" altLang="en-US" sz="2400" dirty="0">
                <a:solidFill>
                  <a:schemeClr val="tx1"/>
                </a:solidFill>
              </a:rPr>
              <a:t>控制时钟与控制数据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sz="2800" dirty="0">
                <a:solidFill>
                  <a:schemeClr val="tx1"/>
                </a:solidFill>
              </a:rPr>
              <a:t>计数器</a:t>
            </a:r>
            <a:endParaRPr kumimoji="0" lang="en-US" altLang="zh-CN" sz="28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chemeClr val="tx1"/>
                </a:solidFill>
              </a:rPr>
              <a:t>行波计数器、同步计数器（串行、并行）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chemeClr val="tx1"/>
                </a:solidFill>
              </a:rPr>
              <a:t>具有加载功能的同步计数器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sz="2800" dirty="0">
                <a:solidFill>
                  <a:schemeClr val="tx1"/>
                </a:solidFill>
              </a:rPr>
              <a:t>微操作</a:t>
            </a:r>
            <a:endParaRPr kumimoji="0" lang="en-US" altLang="zh-CN" sz="28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en-US" altLang="zh-CN" sz="2400" dirty="0">
                <a:solidFill>
                  <a:schemeClr val="tx1"/>
                </a:solidFill>
              </a:rPr>
              <a:t>4</a:t>
            </a:r>
            <a:r>
              <a:rPr kumimoji="0" lang="zh-CN" altLang="en-US" sz="2400" dirty="0">
                <a:solidFill>
                  <a:schemeClr val="tx1"/>
                </a:solidFill>
              </a:rPr>
              <a:t>种微操作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chemeClr val="tx1"/>
                </a:solidFill>
              </a:rPr>
              <a:t>语句与电路（</a:t>
            </a:r>
            <a:r>
              <a:rPr kumimoji="0" lang="en-US" altLang="zh-CN" sz="2400" dirty="0">
                <a:solidFill>
                  <a:schemeClr val="tx1"/>
                </a:solidFill>
              </a:rPr>
              <a:t>RTL</a:t>
            </a:r>
            <a:r>
              <a:rPr kumimoji="0" lang="zh-CN" altLang="en-US" sz="2400" dirty="0">
                <a:solidFill>
                  <a:schemeClr val="tx1"/>
                </a:solidFill>
              </a:rPr>
              <a:t>语言）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 marL="257175" indent="-257175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0" lang="zh-CN" altLang="en-US" sz="2800" dirty="0">
                <a:solidFill>
                  <a:schemeClr val="tx1"/>
                </a:solidFill>
              </a:rPr>
              <a:t>寄存器传输</a:t>
            </a:r>
            <a:endParaRPr kumimoji="0" lang="en-US" altLang="zh-CN" sz="28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>
                <a:solidFill>
                  <a:schemeClr val="tx1"/>
                </a:solidFill>
              </a:rPr>
              <a:t>三态</a:t>
            </a:r>
            <a:r>
              <a:rPr kumimoji="0" lang="zh-CN" altLang="en-US" sz="2400" dirty="0">
                <a:solidFill>
                  <a:schemeClr val="tx1"/>
                </a:solidFill>
              </a:rPr>
              <a:t>、三态总线</a:t>
            </a:r>
            <a:endParaRPr kumimoji="0" lang="en-US" altLang="zh-CN" sz="2400" dirty="0">
              <a:solidFill>
                <a:schemeClr val="tx1"/>
              </a:solidFill>
            </a:endParaRPr>
          </a:p>
          <a:p>
            <a:pPr marL="704850" lvl="1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kumimoji="0" lang="zh-CN" altLang="en-US" sz="2400">
                <a:solidFill>
                  <a:schemeClr val="tx1"/>
                </a:solidFill>
              </a:rPr>
              <a:t>电路</a:t>
            </a:r>
            <a:r>
              <a:rPr kumimoji="0" lang="zh-CN" altLang="en-US" sz="2400" dirty="0">
                <a:solidFill>
                  <a:schemeClr val="tx1"/>
                </a:solidFill>
              </a:rPr>
              <a:t>（直连，</a:t>
            </a:r>
            <a:r>
              <a:rPr kumimoji="0" lang="en-US" altLang="zh-CN" sz="2400" dirty="0">
                <a:solidFill>
                  <a:schemeClr val="tx1"/>
                </a:solidFill>
              </a:rPr>
              <a:t>MUX+</a:t>
            </a:r>
            <a:r>
              <a:rPr kumimoji="0" lang="zh-CN" altLang="en-US" sz="2400" dirty="0">
                <a:solidFill>
                  <a:schemeClr val="tx1"/>
                </a:solidFill>
              </a:rPr>
              <a:t>总线，三态总线）</a:t>
            </a:r>
            <a:endParaRPr kumimoji="0"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7D5C8A2-7C29-49ED-A0EF-E85D49DE439D}"/>
              </a:ext>
            </a:extLst>
          </p:cNvPr>
          <p:cNvSpPr txBox="1">
            <a:spLocks/>
          </p:cNvSpPr>
          <p:nvPr/>
        </p:nvSpPr>
        <p:spPr>
          <a:xfrm>
            <a:off x="417857" y="414659"/>
            <a:ext cx="7886700" cy="76313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数电部分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第六章（第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9931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C2996FE-6E57-4B0F-AD79-6726A797A09B}"/>
              </a:ext>
            </a:extLst>
          </p:cNvPr>
          <p:cNvSpPr txBox="1">
            <a:spLocks/>
          </p:cNvSpPr>
          <p:nvPr/>
        </p:nvSpPr>
        <p:spPr>
          <a:xfrm>
            <a:off x="407404" y="335223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计组部分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第三章（第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17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796354" y="1542643"/>
            <a:ext cx="6740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指令集结构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796353" y="2248545"/>
            <a:ext cx="674025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汇编语言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864000" lvl="1" indent="-45720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指令格式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800100" lvl="1" indent="-342900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chemeClr val="tx1"/>
                </a:solidFill>
                <a:ea typeface="华文新魏" panose="02010800040101010101" pitchFamily="2" charset="-122"/>
              </a:rPr>
              <a:t> 寻址方式</a:t>
            </a:r>
            <a:endParaRPr lang="en-US" altLang="zh-CN" sz="2400" dirty="0">
              <a:solidFill>
                <a:schemeClr val="tx1"/>
              </a:solidFill>
              <a:ea typeface="华文新魏" panose="02010800040101010101" pitchFamily="2" charset="-122"/>
            </a:endParaRPr>
          </a:p>
          <a:p>
            <a:pPr>
              <a:spcBef>
                <a:spcPts val="1200"/>
              </a:spcBef>
              <a:buClr>
                <a:srgbClr val="FF0000"/>
              </a:buClr>
              <a:defRPr/>
            </a:pP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3530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996FE-6E57-4B0F-AD79-6726A797A09B}"/>
              </a:ext>
            </a:extLst>
          </p:cNvPr>
          <p:cNvSpPr txBox="1">
            <a:spLocks/>
          </p:cNvSpPr>
          <p:nvPr/>
        </p:nvSpPr>
        <p:spPr>
          <a:xfrm>
            <a:off x="440857" y="335223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计组部分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606783" y="1321960"/>
            <a:ext cx="7886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计算机基本组成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、存储器、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、总线）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606783" y="1984892"/>
            <a:ext cx="8269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CPU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组成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（寄存器区、运算单元、控制单元、内部总线）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606783" y="2647824"/>
            <a:ext cx="826958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675" indent="-66675"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存储器子系统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ct val="15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芯片组成（线性、二维）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ct val="15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系统组成</a:t>
            </a: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  </a:t>
            </a:r>
          </a:p>
          <a:p>
            <a:pPr marL="738188" indent="267891"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位扩展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738188" indent="267891"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字扩展（高位交叉、低位交叉）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738188" indent="267891">
              <a:spcBef>
                <a:spcPct val="15000"/>
              </a:spcBef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控制信号、地址信号、数据线（地址唯一）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71695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C7A26F-958A-4016-836E-60DF08B72073}"/>
              </a:ext>
            </a:extLst>
          </p:cNvPr>
          <p:cNvSpPr txBox="1"/>
          <p:nvPr/>
        </p:nvSpPr>
        <p:spPr>
          <a:xfrm>
            <a:off x="637383" y="1409119"/>
            <a:ext cx="786923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675" indent="-66675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I/O</a:t>
            </a:r>
            <a:r>
              <a:rPr lang="zh-CN" altLang="en-US" sz="28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子系统</a:t>
            </a:r>
            <a:endParaRPr lang="en-US" altLang="zh-CN" sz="28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ts val="12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输入接口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ts val="12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输出接口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ts val="12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双向</a:t>
            </a:r>
            <a:r>
              <a:rPr lang="en-US" altLang="zh-CN" sz="240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I/O</a:t>
            </a:r>
            <a:r>
              <a:rPr lang="zh-CN" altLang="en-US" sz="240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接口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  <a:p>
            <a:pPr marL="342900" indent="59531">
              <a:spcBef>
                <a:spcPts val="12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电路：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控制信号、地址信号、数据线（地址唯一）</a:t>
            </a:r>
            <a:endParaRPr lang="en-US" altLang="zh-CN" sz="2400" dirty="0">
              <a:solidFill>
                <a:schemeClr val="tx1"/>
              </a:solidFill>
              <a:latin typeface="+mj-lt"/>
              <a:ea typeface="华文新魏" panose="0201080004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E745A8-7717-6C0C-0511-7D14A1C530B0}"/>
              </a:ext>
            </a:extLst>
          </p:cNvPr>
          <p:cNvSpPr txBox="1">
            <a:spLocks/>
          </p:cNvSpPr>
          <p:nvPr/>
        </p:nvSpPr>
        <p:spPr>
          <a:xfrm>
            <a:off x="440857" y="335223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计组部分</a:t>
            </a:r>
            <a:r>
              <a:rPr lang="en-US" altLang="zh-CN" sz="4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第四章（第</a:t>
            </a:r>
            <a:r>
              <a:rPr lang="en-US" altLang="zh-CN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zh-CN" altLang="en-US" sz="4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讲）</a:t>
            </a:r>
            <a:endParaRPr lang="zh-CN" altLang="en-US" sz="40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0168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1C31A-DE0A-40D7-8A05-3DBC2578F38B}" type="slidenum">
              <a:rPr lang="en-US" altLang="zh-CN" smtClean="0"/>
              <a:pPr>
                <a:defRPr/>
              </a:pPr>
              <a:t>14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4824" y="84940"/>
            <a:ext cx="8929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一、试用节点分析法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求图</a:t>
            </a:r>
            <a:r>
              <a:rPr lang="en-US" altLang="zh-CN" sz="2400">
                <a:solidFill>
                  <a:schemeClr val="tx1"/>
                </a:solidFill>
                <a:latin typeface="+mj-lt"/>
              </a:rPr>
              <a:t>1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所</a:t>
            </a:r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示电路中的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支路电压</a:t>
            </a:r>
            <a:r>
              <a:rPr lang="en-US" altLang="zh-CN" sz="2400">
                <a:solidFill>
                  <a:schemeClr val="tx1"/>
                </a:solidFill>
                <a:latin typeface="+mj-lt"/>
              </a:rPr>
              <a:t>v1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和支路电流</a:t>
            </a:r>
            <a:r>
              <a:rPr lang="en-US" altLang="zh-CN" sz="2400">
                <a:solidFill>
                  <a:schemeClr val="tx1"/>
                </a:solidFill>
                <a:latin typeface="+mj-lt"/>
              </a:rPr>
              <a:t>i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619961"/>
            <a:ext cx="3295650" cy="24479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81" y="2270504"/>
            <a:ext cx="3351178" cy="6911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011" y="3170323"/>
            <a:ext cx="3326069" cy="13830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81" y="4464921"/>
            <a:ext cx="2269474" cy="42222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9" y="5209299"/>
            <a:ext cx="7419559" cy="472267"/>
          </a:xfrm>
          <a:prstGeom prst="rect">
            <a:avLst/>
          </a:prstGeom>
        </p:spPr>
      </p:pic>
      <p:sp>
        <p:nvSpPr>
          <p:cNvPr id="21" name="任意多边形 20"/>
          <p:cNvSpPr/>
          <p:nvPr/>
        </p:nvSpPr>
        <p:spPr bwMode="auto">
          <a:xfrm>
            <a:off x="4091042" y="517793"/>
            <a:ext cx="2155522" cy="1399142"/>
          </a:xfrm>
          <a:custGeom>
            <a:avLst/>
            <a:gdLst>
              <a:gd name="connsiteX0" fmla="*/ 381806 w 2155522"/>
              <a:gd name="connsiteY0" fmla="*/ 220337 h 1399142"/>
              <a:gd name="connsiteX1" fmla="*/ 326722 w 2155522"/>
              <a:gd name="connsiteY1" fmla="*/ 242371 h 1399142"/>
              <a:gd name="connsiteX2" fmla="*/ 249604 w 2155522"/>
              <a:gd name="connsiteY2" fmla="*/ 341523 h 1399142"/>
              <a:gd name="connsiteX3" fmla="*/ 227570 w 2155522"/>
              <a:gd name="connsiteY3" fmla="*/ 385590 h 1399142"/>
              <a:gd name="connsiteX4" fmla="*/ 194519 w 2155522"/>
              <a:gd name="connsiteY4" fmla="*/ 418641 h 1399142"/>
              <a:gd name="connsiteX5" fmla="*/ 172486 w 2155522"/>
              <a:gd name="connsiteY5" fmla="*/ 462708 h 1399142"/>
              <a:gd name="connsiteX6" fmla="*/ 150452 w 2155522"/>
              <a:gd name="connsiteY6" fmla="*/ 495759 h 1399142"/>
              <a:gd name="connsiteX7" fmla="*/ 106385 w 2155522"/>
              <a:gd name="connsiteY7" fmla="*/ 583894 h 1399142"/>
              <a:gd name="connsiteX8" fmla="*/ 95368 w 2155522"/>
              <a:gd name="connsiteY8" fmla="*/ 627961 h 1399142"/>
              <a:gd name="connsiteX9" fmla="*/ 73334 w 2155522"/>
              <a:gd name="connsiteY9" fmla="*/ 694062 h 1399142"/>
              <a:gd name="connsiteX10" fmla="*/ 62317 w 2155522"/>
              <a:gd name="connsiteY10" fmla="*/ 727113 h 1399142"/>
              <a:gd name="connsiteX11" fmla="*/ 40283 w 2155522"/>
              <a:gd name="connsiteY11" fmla="*/ 793214 h 1399142"/>
              <a:gd name="connsiteX12" fmla="*/ 18250 w 2155522"/>
              <a:gd name="connsiteY12" fmla="*/ 826265 h 1399142"/>
              <a:gd name="connsiteX13" fmla="*/ 18250 w 2155522"/>
              <a:gd name="connsiteY13" fmla="*/ 1200838 h 1399142"/>
              <a:gd name="connsiteX14" fmla="*/ 40283 w 2155522"/>
              <a:gd name="connsiteY14" fmla="*/ 1266940 h 1399142"/>
              <a:gd name="connsiteX15" fmla="*/ 84351 w 2155522"/>
              <a:gd name="connsiteY15" fmla="*/ 1333041 h 1399142"/>
              <a:gd name="connsiteX16" fmla="*/ 95368 w 2155522"/>
              <a:gd name="connsiteY16" fmla="*/ 1366091 h 1399142"/>
              <a:gd name="connsiteX17" fmla="*/ 128418 w 2155522"/>
              <a:gd name="connsiteY17" fmla="*/ 1377108 h 1399142"/>
              <a:gd name="connsiteX18" fmla="*/ 161469 w 2155522"/>
              <a:gd name="connsiteY18" fmla="*/ 1399142 h 1399142"/>
              <a:gd name="connsiteX19" fmla="*/ 304688 w 2155522"/>
              <a:gd name="connsiteY19" fmla="*/ 1388125 h 1399142"/>
              <a:gd name="connsiteX20" fmla="*/ 337739 w 2155522"/>
              <a:gd name="connsiteY20" fmla="*/ 1377108 h 1399142"/>
              <a:gd name="connsiteX21" fmla="*/ 403840 w 2155522"/>
              <a:gd name="connsiteY21" fmla="*/ 1366091 h 1399142"/>
              <a:gd name="connsiteX22" fmla="*/ 469941 w 2155522"/>
              <a:gd name="connsiteY22" fmla="*/ 1344058 h 1399142"/>
              <a:gd name="connsiteX23" fmla="*/ 502992 w 2155522"/>
              <a:gd name="connsiteY23" fmla="*/ 1333041 h 1399142"/>
              <a:gd name="connsiteX24" fmla="*/ 558076 w 2155522"/>
              <a:gd name="connsiteY24" fmla="*/ 1277956 h 1399142"/>
              <a:gd name="connsiteX25" fmla="*/ 613160 w 2155522"/>
              <a:gd name="connsiteY25" fmla="*/ 1222872 h 1399142"/>
              <a:gd name="connsiteX26" fmla="*/ 668245 w 2155522"/>
              <a:gd name="connsiteY26" fmla="*/ 1167788 h 1399142"/>
              <a:gd name="connsiteX27" fmla="*/ 734346 w 2155522"/>
              <a:gd name="connsiteY27" fmla="*/ 1112703 h 1399142"/>
              <a:gd name="connsiteX28" fmla="*/ 789430 w 2155522"/>
              <a:gd name="connsiteY28" fmla="*/ 1057619 h 1399142"/>
              <a:gd name="connsiteX29" fmla="*/ 811464 w 2155522"/>
              <a:gd name="connsiteY29" fmla="*/ 1024568 h 1399142"/>
              <a:gd name="connsiteX30" fmla="*/ 844515 w 2155522"/>
              <a:gd name="connsiteY30" fmla="*/ 1002535 h 1399142"/>
              <a:gd name="connsiteX31" fmla="*/ 888582 w 2155522"/>
              <a:gd name="connsiteY31" fmla="*/ 969484 h 1399142"/>
              <a:gd name="connsiteX32" fmla="*/ 910616 w 2155522"/>
              <a:gd name="connsiteY32" fmla="*/ 936434 h 1399142"/>
              <a:gd name="connsiteX33" fmla="*/ 943666 w 2155522"/>
              <a:gd name="connsiteY33" fmla="*/ 925417 h 1399142"/>
              <a:gd name="connsiteX34" fmla="*/ 1009768 w 2155522"/>
              <a:gd name="connsiteY34" fmla="*/ 892366 h 1399142"/>
              <a:gd name="connsiteX35" fmla="*/ 1042818 w 2155522"/>
              <a:gd name="connsiteY35" fmla="*/ 859315 h 1399142"/>
              <a:gd name="connsiteX36" fmla="*/ 1075869 w 2155522"/>
              <a:gd name="connsiteY36" fmla="*/ 837282 h 1399142"/>
              <a:gd name="connsiteX37" fmla="*/ 1086886 w 2155522"/>
              <a:gd name="connsiteY37" fmla="*/ 804231 h 1399142"/>
              <a:gd name="connsiteX38" fmla="*/ 1119936 w 2155522"/>
              <a:gd name="connsiteY38" fmla="*/ 793214 h 1399142"/>
              <a:gd name="connsiteX39" fmla="*/ 1152987 w 2155522"/>
              <a:gd name="connsiteY39" fmla="*/ 771180 h 1399142"/>
              <a:gd name="connsiteX40" fmla="*/ 1219088 w 2155522"/>
              <a:gd name="connsiteY40" fmla="*/ 749147 h 1399142"/>
              <a:gd name="connsiteX41" fmla="*/ 1285189 w 2155522"/>
              <a:gd name="connsiteY41" fmla="*/ 716096 h 1399142"/>
              <a:gd name="connsiteX42" fmla="*/ 1318240 w 2155522"/>
              <a:gd name="connsiteY42" fmla="*/ 694062 h 1399142"/>
              <a:gd name="connsiteX43" fmla="*/ 1384341 w 2155522"/>
              <a:gd name="connsiteY43" fmla="*/ 672029 h 1399142"/>
              <a:gd name="connsiteX44" fmla="*/ 1450442 w 2155522"/>
              <a:gd name="connsiteY44" fmla="*/ 649995 h 1399142"/>
              <a:gd name="connsiteX45" fmla="*/ 1483493 w 2155522"/>
              <a:gd name="connsiteY45" fmla="*/ 638978 h 1399142"/>
              <a:gd name="connsiteX46" fmla="*/ 1527560 w 2155522"/>
              <a:gd name="connsiteY46" fmla="*/ 627961 h 1399142"/>
              <a:gd name="connsiteX47" fmla="*/ 1593662 w 2155522"/>
              <a:gd name="connsiteY47" fmla="*/ 594911 h 1399142"/>
              <a:gd name="connsiteX48" fmla="*/ 1648746 w 2155522"/>
              <a:gd name="connsiteY48" fmla="*/ 583894 h 1399142"/>
              <a:gd name="connsiteX49" fmla="*/ 1714847 w 2155522"/>
              <a:gd name="connsiteY49" fmla="*/ 561860 h 1399142"/>
              <a:gd name="connsiteX50" fmla="*/ 1747898 w 2155522"/>
              <a:gd name="connsiteY50" fmla="*/ 550843 h 1399142"/>
              <a:gd name="connsiteX51" fmla="*/ 1836033 w 2155522"/>
              <a:gd name="connsiteY51" fmla="*/ 539826 h 1399142"/>
              <a:gd name="connsiteX52" fmla="*/ 1891117 w 2155522"/>
              <a:gd name="connsiteY52" fmla="*/ 528809 h 1399142"/>
              <a:gd name="connsiteX53" fmla="*/ 2100438 w 2155522"/>
              <a:gd name="connsiteY53" fmla="*/ 517793 h 1399142"/>
              <a:gd name="connsiteX54" fmla="*/ 2144505 w 2155522"/>
              <a:gd name="connsiteY54" fmla="*/ 418641 h 1399142"/>
              <a:gd name="connsiteX55" fmla="*/ 2155522 w 2155522"/>
              <a:gd name="connsiteY55" fmla="*/ 385590 h 1399142"/>
              <a:gd name="connsiteX56" fmla="*/ 2144505 w 2155522"/>
              <a:gd name="connsiteY56" fmla="*/ 231354 h 1399142"/>
              <a:gd name="connsiteX57" fmla="*/ 2133488 w 2155522"/>
              <a:gd name="connsiteY57" fmla="*/ 198303 h 1399142"/>
              <a:gd name="connsiteX58" fmla="*/ 2100438 w 2155522"/>
              <a:gd name="connsiteY58" fmla="*/ 176270 h 1399142"/>
              <a:gd name="connsiteX59" fmla="*/ 2078404 w 2155522"/>
              <a:gd name="connsiteY59" fmla="*/ 143219 h 1399142"/>
              <a:gd name="connsiteX60" fmla="*/ 2012303 w 2155522"/>
              <a:gd name="connsiteY60" fmla="*/ 110168 h 1399142"/>
              <a:gd name="connsiteX61" fmla="*/ 1979252 w 2155522"/>
              <a:gd name="connsiteY61" fmla="*/ 88135 h 1399142"/>
              <a:gd name="connsiteX62" fmla="*/ 1891117 w 2155522"/>
              <a:gd name="connsiteY62" fmla="*/ 66101 h 1399142"/>
              <a:gd name="connsiteX63" fmla="*/ 1825016 w 2155522"/>
              <a:gd name="connsiteY63" fmla="*/ 44067 h 1399142"/>
              <a:gd name="connsiteX64" fmla="*/ 1648746 w 2155522"/>
              <a:gd name="connsiteY64" fmla="*/ 22034 h 1399142"/>
              <a:gd name="connsiteX65" fmla="*/ 1582645 w 2155522"/>
              <a:gd name="connsiteY65" fmla="*/ 11017 h 1399142"/>
              <a:gd name="connsiteX66" fmla="*/ 1538577 w 2155522"/>
              <a:gd name="connsiteY66" fmla="*/ 0 h 1399142"/>
              <a:gd name="connsiteX67" fmla="*/ 1130953 w 2155522"/>
              <a:gd name="connsiteY67" fmla="*/ 11017 h 1399142"/>
              <a:gd name="connsiteX68" fmla="*/ 1086886 w 2155522"/>
              <a:gd name="connsiteY68" fmla="*/ 22034 h 1399142"/>
              <a:gd name="connsiteX69" fmla="*/ 987734 w 2155522"/>
              <a:gd name="connsiteY69" fmla="*/ 55084 h 1399142"/>
              <a:gd name="connsiteX70" fmla="*/ 954683 w 2155522"/>
              <a:gd name="connsiteY70" fmla="*/ 66101 h 1399142"/>
              <a:gd name="connsiteX71" fmla="*/ 899599 w 2155522"/>
              <a:gd name="connsiteY71" fmla="*/ 77118 h 1399142"/>
              <a:gd name="connsiteX72" fmla="*/ 833498 w 2155522"/>
              <a:gd name="connsiteY72" fmla="*/ 99152 h 1399142"/>
              <a:gd name="connsiteX73" fmla="*/ 800447 w 2155522"/>
              <a:gd name="connsiteY73" fmla="*/ 110168 h 1399142"/>
              <a:gd name="connsiteX74" fmla="*/ 712312 w 2155522"/>
              <a:gd name="connsiteY74" fmla="*/ 121185 h 1399142"/>
              <a:gd name="connsiteX75" fmla="*/ 668245 w 2155522"/>
              <a:gd name="connsiteY75" fmla="*/ 132202 h 1399142"/>
              <a:gd name="connsiteX76" fmla="*/ 602144 w 2155522"/>
              <a:gd name="connsiteY76" fmla="*/ 143219 h 1399142"/>
              <a:gd name="connsiteX77" fmla="*/ 514009 w 2155522"/>
              <a:gd name="connsiteY77" fmla="*/ 165253 h 1399142"/>
              <a:gd name="connsiteX78" fmla="*/ 469941 w 2155522"/>
              <a:gd name="connsiteY78" fmla="*/ 176270 h 1399142"/>
              <a:gd name="connsiteX79" fmla="*/ 403840 w 2155522"/>
              <a:gd name="connsiteY79" fmla="*/ 198303 h 1399142"/>
              <a:gd name="connsiteX80" fmla="*/ 381806 w 2155522"/>
              <a:gd name="connsiteY80" fmla="*/ 220337 h 1399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155522" h="1399142">
                <a:moveTo>
                  <a:pt x="381806" y="220337"/>
                </a:moveTo>
                <a:cubicBezTo>
                  <a:pt x="363445" y="227682"/>
                  <a:pt x="343492" y="231890"/>
                  <a:pt x="326722" y="242371"/>
                </a:cubicBezTo>
                <a:cubicBezTo>
                  <a:pt x="300341" y="258859"/>
                  <a:pt x="259149" y="322434"/>
                  <a:pt x="249604" y="341523"/>
                </a:cubicBezTo>
                <a:cubicBezTo>
                  <a:pt x="242259" y="356212"/>
                  <a:pt x="237116" y="372226"/>
                  <a:pt x="227570" y="385590"/>
                </a:cubicBezTo>
                <a:cubicBezTo>
                  <a:pt x="218514" y="398268"/>
                  <a:pt x="205536" y="407624"/>
                  <a:pt x="194519" y="418641"/>
                </a:cubicBezTo>
                <a:cubicBezTo>
                  <a:pt x="187175" y="433330"/>
                  <a:pt x="180634" y="448449"/>
                  <a:pt x="172486" y="462708"/>
                </a:cubicBezTo>
                <a:cubicBezTo>
                  <a:pt x="165917" y="474204"/>
                  <a:pt x="155668" y="483589"/>
                  <a:pt x="150452" y="495759"/>
                </a:cubicBezTo>
                <a:cubicBezTo>
                  <a:pt x="109197" y="592020"/>
                  <a:pt x="179789" y="486020"/>
                  <a:pt x="106385" y="583894"/>
                </a:cubicBezTo>
                <a:cubicBezTo>
                  <a:pt x="102713" y="598583"/>
                  <a:pt x="99719" y="613458"/>
                  <a:pt x="95368" y="627961"/>
                </a:cubicBezTo>
                <a:cubicBezTo>
                  <a:pt x="88694" y="650207"/>
                  <a:pt x="80679" y="672028"/>
                  <a:pt x="73334" y="694062"/>
                </a:cubicBezTo>
                <a:lnTo>
                  <a:pt x="62317" y="727113"/>
                </a:lnTo>
                <a:cubicBezTo>
                  <a:pt x="62317" y="727114"/>
                  <a:pt x="40284" y="793213"/>
                  <a:pt x="40283" y="793214"/>
                </a:cubicBezTo>
                <a:lnTo>
                  <a:pt x="18250" y="826265"/>
                </a:lnTo>
                <a:cubicBezTo>
                  <a:pt x="-7216" y="979059"/>
                  <a:pt x="-4924" y="938198"/>
                  <a:pt x="18250" y="1200838"/>
                </a:cubicBezTo>
                <a:cubicBezTo>
                  <a:pt x="20291" y="1223974"/>
                  <a:pt x="32939" y="1244906"/>
                  <a:pt x="40283" y="1266940"/>
                </a:cubicBezTo>
                <a:cubicBezTo>
                  <a:pt x="56226" y="1314770"/>
                  <a:pt x="43090" y="1291780"/>
                  <a:pt x="84351" y="1333041"/>
                </a:cubicBezTo>
                <a:cubicBezTo>
                  <a:pt x="88023" y="1344058"/>
                  <a:pt x="87157" y="1357880"/>
                  <a:pt x="95368" y="1366091"/>
                </a:cubicBezTo>
                <a:cubicBezTo>
                  <a:pt x="103579" y="1374302"/>
                  <a:pt x="118031" y="1371915"/>
                  <a:pt x="128418" y="1377108"/>
                </a:cubicBezTo>
                <a:cubicBezTo>
                  <a:pt x="140261" y="1383030"/>
                  <a:pt x="150452" y="1391797"/>
                  <a:pt x="161469" y="1399142"/>
                </a:cubicBezTo>
                <a:cubicBezTo>
                  <a:pt x="209209" y="1395470"/>
                  <a:pt x="257177" y="1394064"/>
                  <a:pt x="304688" y="1388125"/>
                </a:cubicBezTo>
                <a:cubicBezTo>
                  <a:pt x="316211" y="1386685"/>
                  <a:pt x="326403" y="1379627"/>
                  <a:pt x="337739" y="1377108"/>
                </a:cubicBezTo>
                <a:cubicBezTo>
                  <a:pt x="359545" y="1372262"/>
                  <a:pt x="382169" y="1371509"/>
                  <a:pt x="403840" y="1366091"/>
                </a:cubicBezTo>
                <a:cubicBezTo>
                  <a:pt x="426372" y="1360458"/>
                  <a:pt x="447907" y="1351402"/>
                  <a:pt x="469941" y="1344058"/>
                </a:cubicBezTo>
                <a:lnTo>
                  <a:pt x="502992" y="1333041"/>
                </a:lnTo>
                <a:cubicBezTo>
                  <a:pt x="561741" y="1244914"/>
                  <a:pt x="484636" y="1351394"/>
                  <a:pt x="558076" y="1277956"/>
                </a:cubicBezTo>
                <a:cubicBezTo>
                  <a:pt x="631525" y="1204508"/>
                  <a:pt x="525023" y="1281632"/>
                  <a:pt x="613160" y="1222872"/>
                </a:cubicBezTo>
                <a:cubicBezTo>
                  <a:pt x="653558" y="1162276"/>
                  <a:pt x="613158" y="1213694"/>
                  <a:pt x="668245" y="1167788"/>
                </a:cubicBezTo>
                <a:cubicBezTo>
                  <a:pt x="753079" y="1097093"/>
                  <a:pt x="652280" y="1167414"/>
                  <a:pt x="734346" y="1112703"/>
                </a:cubicBezTo>
                <a:cubicBezTo>
                  <a:pt x="793106" y="1024566"/>
                  <a:pt x="715982" y="1131068"/>
                  <a:pt x="789430" y="1057619"/>
                </a:cubicBezTo>
                <a:cubicBezTo>
                  <a:pt x="798793" y="1048256"/>
                  <a:pt x="802101" y="1033931"/>
                  <a:pt x="811464" y="1024568"/>
                </a:cubicBezTo>
                <a:cubicBezTo>
                  <a:pt x="820827" y="1015206"/>
                  <a:pt x="833741" y="1010231"/>
                  <a:pt x="844515" y="1002535"/>
                </a:cubicBezTo>
                <a:cubicBezTo>
                  <a:pt x="859456" y="991863"/>
                  <a:pt x="875599" y="982467"/>
                  <a:pt x="888582" y="969484"/>
                </a:cubicBezTo>
                <a:cubicBezTo>
                  <a:pt x="897944" y="960122"/>
                  <a:pt x="900277" y="944705"/>
                  <a:pt x="910616" y="936434"/>
                </a:cubicBezTo>
                <a:cubicBezTo>
                  <a:pt x="919684" y="929180"/>
                  <a:pt x="933279" y="930610"/>
                  <a:pt x="943666" y="925417"/>
                </a:cubicBezTo>
                <a:cubicBezTo>
                  <a:pt x="1029089" y="882705"/>
                  <a:pt x="926697" y="920056"/>
                  <a:pt x="1009768" y="892366"/>
                </a:cubicBezTo>
                <a:cubicBezTo>
                  <a:pt x="1020785" y="881349"/>
                  <a:pt x="1030849" y="869289"/>
                  <a:pt x="1042818" y="859315"/>
                </a:cubicBezTo>
                <a:cubicBezTo>
                  <a:pt x="1052990" y="850839"/>
                  <a:pt x="1067598" y="847621"/>
                  <a:pt x="1075869" y="837282"/>
                </a:cubicBezTo>
                <a:cubicBezTo>
                  <a:pt x="1083124" y="828214"/>
                  <a:pt x="1078675" y="812443"/>
                  <a:pt x="1086886" y="804231"/>
                </a:cubicBezTo>
                <a:cubicBezTo>
                  <a:pt x="1095097" y="796020"/>
                  <a:pt x="1109549" y="798407"/>
                  <a:pt x="1119936" y="793214"/>
                </a:cubicBezTo>
                <a:cubicBezTo>
                  <a:pt x="1131779" y="787292"/>
                  <a:pt x="1140887" y="776558"/>
                  <a:pt x="1152987" y="771180"/>
                </a:cubicBezTo>
                <a:cubicBezTo>
                  <a:pt x="1174211" y="761747"/>
                  <a:pt x="1199763" y="762030"/>
                  <a:pt x="1219088" y="749147"/>
                </a:cubicBezTo>
                <a:cubicBezTo>
                  <a:pt x="1313809" y="686000"/>
                  <a:pt x="1193965" y="761709"/>
                  <a:pt x="1285189" y="716096"/>
                </a:cubicBezTo>
                <a:cubicBezTo>
                  <a:pt x="1297032" y="710174"/>
                  <a:pt x="1306140" y="699440"/>
                  <a:pt x="1318240" y="694062"/>
                </a:cubicBezTo>
                <a:cubicBezTo>
                  <a:pt x="1339464" y="684629"/>
                  <a:pt x="1362307" y="679373"/>
                  <a:pt x="1384341" y="672029"/>
                </a:cubicBezTo>
                <a:lnTo>
                  <a:pt x="1450442" y="649995"/>
                </a:lnTo>
                <a:cubicBezTo>
                  <a:pt x="1461459" y="646323"/>
                  <a:pt x="1472227" y="641795"/>
                  <a:pt x="1483493" y="638978"/>
                </a:cubicBezTo>
                <a:cubicBezTo>
                  <a:pt x="1498182" y="635306"/>
                  <a:pt x="1513001" y="632121"/>
                  <a:pt x="1527560" y="627961"/>
                </a:cubicBezTo>
                <a:cubicBezTo>
                  <a:pt x="1671229" y="586912"/>
                  <a:pt x="1439148" y="652852"/>
                  <a:pt x="1593662" y="594911"/>
                </a:cubicBezTo>
                <a:cubicBezTo>
                  <a:pt x="1611195" y="588336"/>
                  <a:pt x="1630681" y="588821"/>
                  <a:pt x="1648746" y="583894"/>
                </a:cubicBezTo>
                <a:cubicBezTo>
                  <a:pt x="1671153" y="577783"/>
                  <a:pt x="1692813" y="569205"/>
                  <a:pt x="1714847" y="561860"/>
                </a:cubicBezTo>
                <a:cubicBezTo>
                  <a:pt x="1725864" y="558188"/>
                  <a:pt x="1736375" y="552283"/>
                  <a:pt x="1747898" y="550843"/>
                </a:cubicBezTo>
                <a:cubicBezTo>
                  <a:pt x="1777276" y="547171"/>
                  <a:pt x="1806770" y="544328"/>
                  <a:pt x="1836033" y="539826"/>
                </a:cubicBezTo>
                <a:cubicBezTo>
                  <a:pt x="1854540" y="536979"/>
                  <a:pt x="1872457" y="530364"/>
                  <a:pt x="1891117" y="528809"/>
                </a:cubicBezTo>
                <a:cubicBezTo>
                  <a:pt x="1960746" y="523007"/>
                  <a:pt x="2030664" y="521465"/>
                  <a:pt x="2100438" y="517793"/>
                </a:cubicBezTo>
                <a:cubicBezTo>
                  <a:pt x="2135354" y="465417"/>
                  <a:pt x="2118284" y="497303"/>
                  <a:pt x="2144505" y="418641"/>
                </a:cubicBezTo>
                <a:lnTo>
                  <a:pt x="2155522" y="385590"/>
                </a:lnTo>
                <a:cubicBezTo>
                  <a:pt x="2151850" y="334178"/>
                  <a:pt x="2150527" y="282544"/>
                  <a:pt x="2144505" y="231354"/>
                </a:cubicBezTo>
                <a:cubicBezTo>
                  <a:pt x="2143148" y="219821"/>
                  <a:pt x="2140743" y="207371"/>
                  <a:pt x="2133488" y="198303"/>
                </a:cubicBezTo>
                <a:cubicBezTo>
                  <a:pt x="2125217" y="187964"/>
                  <a:pt x="2111455" y="183614"/>
                  <a:pt x="2100438" y="176270"/>
                </a:cubicBezTo>
                <a:cubicBezTo>
                  <a:pt x="2093093" y="165253"/>
                  <a:pt x="2087767" y="152582"/>
                  <a:pt x="2078404" y="143219"/>
                </a:cubicBezTo>
                <a:cubicBezTo>
                  <a:pt x="2046832" y="111647"/>
                  <a:pt x="2048143" y="128088"/>
                  <a:pt x="2012303" y="110168"/>
                </a:cubicBezTo>
                <a:cubicBezTo>
                  <a:pt x="2000460" y="104247"/>
                  <a:pt x="1991095" y="94056"/>
                  <a:pt x="1979252" y="88135"/>
                </a:cubicBezTo>
                <a:cubicBezTo>
                  <a:pt x="1952508" y="74763"/>
                  <a:pt x="1918776" y="73644"/>
                  <a:pt x="1891117" y="66101"/>
                </a:cubicBezTo>
                <a:cubicBezTo>
                  <a:pt x="1868710" y="59990"/>
                  <a:pt x="1848100" y="46632"/>
                  <a:pt x="1825016" y="44067"/>
                </a:cubicBezTo>
                <a:cubicBezTo>
                  <a:pt x="1736318" y="34212"/>
                  <a:pt x="1730468" y="34606"/>
                  <a:pt x="1648746" y="22034"/>
                </a:cubicBezTo>
                <a:cubicBezTo>
                  <a:pt x="1626668" y="18638"/>
                  <a:pt x="1604549" y="15398"/>
                  <a:pt x="1582645" y="11017"/>
                </a:cubicBezTo>
                <a:cubicBezTo>
                  <a:pt x="1567798" y="8047"/>
                  <a:pt x="1553266" y="3672"/>
                  <a:pt x="1538577" y="0"/>
                </a:cubicBezTo>
                <a:cubicBezTo>
                  <a:pt x="1402702" y="3672"/>
                  <a:pt x="1266716" y="4394"/>
                  <a:pt x="1130953" y="11017"/>
                </a:cubicBezTo>
                <a:cubicBezTo>
                  <a:pt x="1115830" y="11755"/>
                  <a:pt x="1101389" y="17683"/>
                  <a:pt x="1086886" y="22034"/>
                </a:cubicBezTo>
                <a:cubicBezTo>
                  <a:pt x="1086863" y="22041"/>
                  <a:pt x="1004271" y="49572"/>
                  <a:pt x="987734" y="55084"/>
                </a:cubicBezTo>
                <a:cubicBezTo>
                  <a:pt x="976717" y="58756"/>
                  <a:pt x="966070" y="63823"/>
                  <a:pt x="954683" y="66101"/>
                </a:cubicBezTo>
                <a:cubicBezTo>
                  <a:pt x="936322" y="69773"/>
                  <a:pt x="917664" y="72191"/>
                  <a:pt x="899599" y="77118"/>
                </a:cubicBezTo>
                <a:cubicBezTo>
                  <a:pt x="877192" y="83229"/>
                  <a:pt x="855532" y="91808"/>
                  <a:pt x="833498" y="99152"/>
                </a:cubicBezTo>
                <a:cubicBezTo>
                  <a:pt x="822481" y="102824"/>
                  <a:pt x="811970" y="108728"/>
                  <a:pt x="800447" y="110168"/>
                </a:cubicBezTo>
                <a:lnTo>
                  <a:pt x="712312" y="121185"/>
                </a:lnTo>
                <a:cubicBezTo>
                  <a:pt x="697623" y="124857"/>
                  <a:pt x="683092" y="129233"/>
                  <a:pt x="668245" y="132202"/>
                </a:cubicBezTo>
                <a:cubicBezTo>
                  <a:pt x="646341" y="136583"/>
                  <a:pt x="623986" y="138539"/>
                  <a:pt x="602144" y="143219"/>
                </a:cubicBezTo>
                <a:cubicBezTo>
                  <a:pt x="572534" y="149564"/>
                  <a:pt x="543387" y="157908"/>
                  <a:pt x="514009" y="165253"/>
                </a:cubicBezTo>
                <a:cubicBezTo>
                  <a:pt x="499320" y="168925"/>
                  <a:pt x="484305" y="171482"/>
                  <a:pt x="469941" y="176270"/>
                </a:cubicBezTo>
                <a:lnTo>
                  <a:pt x="403840" y="198303"/>
                </a:lnTo>
                <a:lnTo>
                  <a:pt x="381806" y="220337"/>
                </a:lnTo>
                <a:close/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600" b="0" i="0" u="none" strike="noStrike" cap="none" normalizeH="0" baseline="0">
              <a:ln>
                <a:solidFill>
                  <a:srgbClr val="FF3300"/>
                </a:solidFill>
              </a:ln>
              <a:solidFill>
                <a:srgbClr val="0000FF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12" y="3250513"/>
            <a:ext cx="4113573" cy="712169"/>
          </a:xfrm>
          <a:prstGeom prst="rect">
            <a:avLst/>
          </a:prstGeom>
        </p:spPr>
      </p:pic>
      <p:sp>
        <p:nvSpPr>
          <p:cNvPr id="23" name="左大括号 22"/>
          <p:cNvSpPr/>
          <p:nvPr/>
        </p:nvSpPr>
        <p:spPr bwMode="auto">
          <a:xfrm>
            <a:off x="4679412" y="3056869"/>
            <a:ext cx="399364" cy="1439716"/>
          </a:xfrm>
          <a:prstGeom prst="leftBrac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256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  <p:bldP spid="21" grpId="2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1C31A-DE0A-40D7-8A05-3DBC2578F38B}" type="slidenum">
              <a:rPr lang="en-US" altLang="zh-CN" smtClean="0"/>
              <a:pPr>
                <a:defRPr/>
              </a:pPr>
              <a:t>15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29" y="2334256"/>
            <a:ext cx="2143125" cy="3190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404" y="598867"/>
            <a:ext cx="4813487" cy="19834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8897" y="350809"/>
            <a:ext cx="35859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二、试用叠加定理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求图</a:t>
            </a:r>
            <a:r>
              <a:rPr lang="en-US" altLang="zh-CN" sz="2400" dirty="0">
                <a:solidFill>
                  <a:schemeClr val="tx1"/>
                </a:solidFill>
                <a:latin typeface="+mj-lt"/>
              </a:rPr>
              <a:t>2</a:t>
            </a:r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所示电路中的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支路电压</a:t>
            </a:r>
            <a:r>
              <a:rPr lang="en-US" altLang="zh-CN" sz="2400" dirty="0">
                <a:solidFill>
                  <a:schemeClr val="tx1"/>
                </a:solidFill>
                <a:latin typeface="+mj-lt"/>
              </a:rPr>
              <a:t>v</a:t>
            </a:r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和</a:t>
            </a:r>
            <a:r>
              <a:rPr lang="zh-CN" altLang="zh-CN" sz="2400">
                <a:solidFill>
                  <a:schemeClr val="tx1"/>
                </a:solidFill>
                <a:latin typeface="+mj-lt"/>
              </a:rPr>
              <a:t>支路电流</a:t>
            </a:r>
            <a:r>
              <a:rPr lang="en-US" altLang="zh-CN" sz="24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zh-CN" altLang="zh-CN" sz="2400" dirty="0">
                <a:solidFill>
                  <a:schemeClr val="tx1"/>
                </a:solidFill>
                <a:latin typeface="+mj-lt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702" y="2820505"/>
            <a:ext cx="2695919" cy="328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174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1C31A-DE0A-40D7-8A05-3DBC2578F38B}" type="slidenum">
              <a:rPr lang="en-US" altLang="zh-CN" smtClean="0"/>
              <a:pPr>
                <a:defRPr/>
              </a:pPr>
              <a:t>16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" y="261135"/>
            <a:ext cx="3939996" cy="24401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36" y="3637288"/>
            <a:ext cx="4397108" cy="16988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407" y="493871"/>
            <a:ext cx="4680636" cy="245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93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4690386" y="220621"/>
            <a:ext cx="3858704" cy="210028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1C31A-DE0A-40D7-8A05-3DBC2578F38B}" type="slidenum">
              <a:rPr lang="en-US" altLang="zh-CN" smtClean="0"/>
              <a:pPr>
                <a:defRPr/>
              </a:pPr>
              <a:t>17</a:t>
            </a:fld>
            <a:endParaRPr lang="en-US" altLang="zh-CN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38163" y="312443"/>
                <a:ext cx="507196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1524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三、</a:t>
                </a:r>
                <a:r>
                  <a:rPr lang="zh-CN" altLang="zh-CN" sz="2400">
                    <a:solidFill>
                      <a:schemeClr val="tx1"/>
                    </a:solidFill>
                    <a:latin typeface="+mj-lt"/>
                  </a:rPr>
                  <a:t>如图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</a:rPr>
                  <a:t>3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所示电路，</a:t>
                </a:r>
                <a:r>
                  <a:rPr lang="zh-CN" altLang="zh-CN" sz="2400">
                    <a:solidFill>
                      <a:schemeClr val="tx1"/>
                    </a:solidFill>
                    <a:latin typeface="+mj-lt"/>
                  </a:rPr>
                  <a:t>试：</a:t>
                </a:r>
                <a:endParaRPr lang="en-US" altLang="zh-CN" sz="2400" dirty="0">
                  <a:solidFill>
                    <a:schemeClr val="tx1"/>
                  </a:solidFill>
                  <a:latin typeface="+mj-lt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</a:rPr>
                  <a:t>1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、求该电路的戴维南等效电路；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</a:rPr>
                  <a:t>2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、若负载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𝑹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可任意</a:t>
                </a:r>
                <a:r>
                  <a:rPr lang="zh-CN" altLang="zh-CN" sz="2400">
                    <a:solidFill>
                      <a:schemeClr val="tx1"/>
                    </a:solidFill>
                    <a:latin typeface="+mj-lt"/>
                  </a:rPr>
                  <a:t>改变，</a:t>
                </a:r>
                <a:endParaRPr lang="en-US" altLang="zh-CN" sz="24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请问负载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𝑹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为何值时可获得最大功率？最大功率</a:t>
                </a:r>
                <a:r>
                  <a:rPr lang="zh-CN" altLang="zh-CN" sz="2400">
                    <a:solidFill>
                      <a:schemeClr val="tx1"/>
                    </a:solidFill>
                    <a:latin typeface="+mj-lt"/>
                  </a:rPr>
                  <a:t>是多少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</a:rPr>
                  <a:t>?</a:t>
                </a:r>
                <a:endParaRPr lang="zh-CN" altLang="en-US" sz="24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63" y="312443"/>
                <a:ext cx="5071968" cy="2862322"/>
              </a:xfrm>
              <a:prstGeom prst="rect">
                <a:avLst/>
              </a:prstGeom>
              <a:blipFill>
                <a:blip r:embed="rId3"/>
                <a:stretch>
                  <a:fillRect l="-1803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4765"/>
            <a:ext cx="3712684" cy="216508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" y="5529805"/>
            <a:ext cx="2416075" cy="33848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369507" y="2666014"/>
            <a:ext cx="3734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j-lt"/>
              </a:rPr>
              <a:t>解：</a:t>
            </a:r>
            <a:r>
              <a:rPr lang="en-US" altLang="zh-CN" sz="2400" dirty="0">
                <a:solidFill>
                  <a:schemeClr val="tx1"/>
                </a:solidFill>
                <a:latin typeface="+mj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j-lt"/>
              </a:rPr>
              <a:t>、求等效电路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037" y="3315589"/>
            <a:ext cx="4379775" cy="295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13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306363" y="143099"/>
            <a:ext cx="1905000" cy="457200"/>
          </a:xfrm>
        </p:spPr>
        <p:txBody>
          <a:bodyPr/>
          <a:lstStyle/>
          <a:p>
            <a:r>
              <a:rPr lang="zh-CN" altLang="zh-CN" sz="2400">
                <a:solidFill>
                  <a:schemeClr val="tx1"/>
                </a:solidFill>
                <a:latin typeface="+mj-lt"/>
                <a:ea typeface="华文新魏" panose="02010800040101010101" pitchFamily="2" charset="-122"/>
              </a:rPr>
              <a:t>求等效电阻：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54" y="1049357"/>
            <a:ext cx="3509255" cy="18838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318" y="2546904"/>
            <a:ext cx="2622362" cy="105561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318" y="271271"/>
            <a:ext cx="3274930" cy="2075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923121" y="3615539"/>
                <a:ext cx="4572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:r>
                  <a:rPr lang="zh-CN" altLang="zh-CN" sz="2400" kern="100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法二： 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400" b="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80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+(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+0.05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)×10</m:t>
                      </m:r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=−80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121" y="3615539"/>
                <a:ext cx="4572000" cy="1754326"/>
              </a:xfrm>
              <a:prstGeom prst="rect">
                <a:avLst/>
              </a:prstGeom>
              <a:blipFill rotWithShape="0">
                <a:blip r:embed="rId5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3" y="3535625"/>
            <a:ext cx="3359235" cy="18516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829258" y="5639924"/>
                <a:ext cx="2319049" cy="632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=50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258" y="5639924"/>
                <a:ext cx="2319049" cy="632289"/>
              </a:xfrm>
              <a:prstGeom prst="rect">
                <a:avLst/>
              </a:prstGeom>
              <a:blipFill rotWithShape="0">
                <a:blip r:embed="rId7"/>
                <a:stretch>
                  <a:fillRect t="-1923" r="-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038721" y="5699889"/>
                <a:ext cx="288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化简得：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sub>
                    </m:sSub>
                    <m:r>
                      <a:rPr lang="en-US" altLang="zh-CN" sz="24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=50</m:t>
                    </m:r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21" y="5699889"/>
                <a:ext cx="28844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3165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8186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52DFE0-FAEA-4E48-9FD1-A5A4D3064695}" type="datetime1">
              <a:rPr lang="zh-CN" altLang="en-US" smtClean="0"/>
              <a:pPr>
                <a:defRPr/>
              </a:pPr>
              <a:t>2026/1/5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1C31A-DE0A-40D7-8A05-3DBC2578F38B}" type="slidenum">
              <a:rPr lang="en-US" altLang="zh-CN" smtClean="0"/>
              <a:pPr>
                <a:defRPr/>
              </a:pPr>
              <a:t>19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76" y="409503"/>
            <a:ext cx="3320285" cy="181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05480" y="200180"/>
                <a:ext cx="4572000" cy="14219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:r>
                  <a:rPr lang="zh-CN" altLang="zh-CN" sz="2400" kern="100" dirty="0">
                    <a:solidFill>
                      <a:schemeClr val="tx1"/>
                    </a:solidFill>
                    <a:latin typeface="+mn-ea"/>
                    <a:ea typeface="+mn-ea"/>
                  </a:rPr>
                  <a:t>法三：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=80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+(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+0.05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)×10</m:t>
                      </m:r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 algn="just">
                  <a:lnSpc>
                    <a:spcPct val="12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=−</m:t>
                      </m:r>
                      <m:r>
                        <a:rPr lang="en-US" altLang="zh-CN" sz="2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</a:rPr>
                        <m:t>80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480" y="200180"/>
                <a:ext cx="4572000" cy="1421928"/>
              </a:xfrm>
              <a:prstGeom prst="rect">
                <a:avLst/>
              </a:prstGeom>
              <a:blipFill rotWithShape="0">
                <a:blip r:embed="rId3"/>
                <a:stretch>
                  <a:fillRect l="-2133" t="-2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201297" y="2345877"/>
                <a:ext cx="2319049" cy="632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𝑒𝑞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=50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297" y="2345877"/>
                <a:ext cx="2319049" cy="632289"/>
              </a:xfrm>
              <a:prstGeom prst="rect">
                <a:avLst/>
              </a:prstGeom>
              <a:blipFill rotWithShape="0">
                <a:blip r:embed="rId4"/>
                <a:stretch>
                  <a:fillRect t="-1923" r="-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112427" y="1730166"/>
                <a:ext cx="288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化简得：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sub>
                    </m:sSub>
                    <m:r>
                      <a:rPr lang="en-US" altLang="zh-CN" sz="24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=50</m:t>
                    </m:r>
                    <m:sSub>
                      <m:sSubPr>
                        <m:ctrlPr>
                          <a:rPr lang="zh-CN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427" y="1730166"/>
                <a:ext cx="2884400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383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713985" y="3646175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等效电路如右图所示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014" y="2943054"/>
            <a:ext cx="2287703" cy="1748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313394" y="4426038"/>
                <a:ext cx="4572000" cy="194059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</a:rPr>
                  <a:t>2.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负载电阻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𝐿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+mj-lt"/>
                      </a:rPr>
                      <m:t>=50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  <a:sym typeface="Symbol" panose="05050102010706020507" pitchFamily="18" charset="2"/>
                  </a:rPr>
                  <a:t>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+mj-lt"/>
                  </a:rPr>
                  <a:t>时，能获取最大功率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𝑃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+mj-lt"/>
                          </a:rPr>
                          <m:t>𝑚𝑎𝑥</m:t>
                        </m:r>
                      </m:sub>
                    </m:sSub>
                  </m:oMath>
                </a14:m>
                <a:endParaRPr lang="zh-CN" altLang="zh-CN" sz="24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22504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4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𝑜𝑐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4×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4×</m:t>
                          </m:r>
                          <m:r>
                            <a:rPr lang="en-US" altLang="zh-CN" sz="24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50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=50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𝑊</m:t>
                      </m:r>
                    </m:oMath>
                  </m:oMathPara>
                </a14:m>
                <a:endParaRPr lang="zh-CN" altLang="zh-CN" sz="2400" kern="1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94" y="4426038"/>
                <a:ext cx="4572000" cy="1940596"/>
              </a:xfrm>
              <a:prstGeom prst="rect">
                <a:avLst/>
              </a:prstGeom>
              <a:blipFill>
                <a:blip r:embed="rId7"/>
                <a:stretch>
                  <a:fillRect l="-2000" t="-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781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itchFamily="18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itchFamily="18" charset="0"/>
            <a:ea typeface="华文新魏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9042</TotalTime>
  <Words>876</Words>
  <Application>Microsoft Office PowerPoint</Application>
  <PresentationFormat>全屏显示(4:3)</PresentationFormat>
  <Paragraphs>140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宋体</vt:lpstr>
      <vt:lpstr>华文新魏</vt:lpstr>
      <vt:lpstr>Arial</vt:lpstr>
      <vt:lpstr>Cambria Math</vt:lpstr>
      <vt:lpstr>Times New Roman</vt:lpstr>
      <vt:lpstr>Wingdings</vt:lpstr>
      <vt:lpstr>默认设计模板</vt:lpstr>
      <vt:lpstr>BMP 图象</vt:lpstr>
      <vt:lpstr>各章知识点</vt:lpstr>
      <vt:lpstr>电路部分（第1讲—第3讲）</vt:lpstr>
      <vt:lpstr>数电——第一章（第7讲）</vt:lpstr>
      <vt:lpstr>数电部分——第二章（第8、9讲）</vt:lpstr>
      <vt:lpstr>数电部分——第三章（第10讲）</vt:lpstr>
      <vt:lpstr>数电部分——第三章（第11讲）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JSHKUANG</dc:creator>
  <cp:lastModifiedBy>c c</cp:lastModifiedBy>
  <cp:revision>1778</cp:revision>
  <cp:lastPrinted>1999-02-28T23:50:56Z</cp:lastPrinted>
  <dcterms:created xsi:type="dcterms:W3CDTF">1999-09-13T01:56:29Z</dcterms:created>
  <dcterms:modified xsi:type="dcterms:W3CDTF">2026-01-05T04:10:14Z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jshkuang@sina.com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D:\course\数字逻辑</vt:lpwstr>
  </property>
</Properties>
</file>